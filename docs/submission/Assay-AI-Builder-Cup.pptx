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 Flex" panose="020B0604020202020204" charset="0"/>
      <p:regular r:id="rId19"/>
      <p:bold r:id="rId20"/>
    </p:embeddedFont>
    <p:embeddedFont>
      <p:font typeface="Google Sans Flex Medium" panose="020B0604020202020204" charset="0"/>
      <p:regular r:id="rId21"/>
      <p:bold r:id="rId22"/>
    </p:embeddedFont>
    <p:embeddedFont>
      <p:font typeface="Google Sans Flex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384048" y="276148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Google Sans Flex Medium"/>
              </a:rPr>
              <a:t>Team Details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" y="310896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Google Sans Flex"/>
              </a:rPr>
              <a:t>a.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310896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Google Sans Flex"/>
              </a:rPr>
              <a:t>Team name: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12848" y="309067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Google Sans Flex"/>
              </a:rPr>
              <a:t>Assay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338328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Google Sans Flex"/>
              </a:rPr>
              <a:t>b.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38328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Google Sans Flex"/>
              </a:rPr>
              <a:t>Team leader name: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12848" y="336499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Google Sans Flex"/>
              </a:rPr>
              <a:t>Rafida Aziz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" y="365760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Google Sans Flex"/>
              </a:rPr>
              <a:t>c.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365760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Google Sans Flex"/>
              </a:rPr>
              <a:t>Problem Statement: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12848" y="3639312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Google Sans Flex"/>
              </a:rPr>
              <a:t>AI study tools dispense answers instead of building reasoning. Assay forces the learner to defend their understanding in Socratic dialogue, and verifies every claim against the source document.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Google Sans Flex"/>
              </a:rPr>
              <a:t>Google Cloud AI Builder Cup 2026  ·  Track 4 — Media, Content &amp; Digital Experiences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40680" y="1298448"/>
            <a:ext cx="324612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440680" y="1298448"/>
            <a:ext cx="324612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4048" y="129844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Google Sans Flex Medium"/>
              </a:rPr>
              <a:t>Every AI study tool answers questions.</a:t>
            </a:r>
            <a:r>
              <a:rPr sz="1700" b="1">
                <a:solidFill>
                  <a:srgbClr val="4F46E5"/>
                </a:solidFill>
                <a:latin typeface="Google Sans Flex Medium"/>
              </a:rPr>
              <a:t>Assay questions your answers.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048" y="2148840"/>
            <a:ext cx="48463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60" b="1">
                <a:solidFill>
                  <a:srgbClr val="0F172A"/>
                </a:solidFill>
                <a:latin typeface="Google Sans Flex"/>
              </a:rPr>
              <a:t>The problem. </a:t>
            </a:r>
            <a:r>
              <a:rPr sz="960" b="0">
                <a:solidFill>
                  <a:srgbClr val="334155"/>
                </a:solidFill>
                <a:latin typeface="Google Sans Flex"/>
              </a:rPr>
              <a:t>Students feed material into an AI, get a summary or a quiz, and mistake recognition for understanding. The cognitive muscle is never exercised — and there is no way to tell comprehension from confident recall.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60" b="1">
                <a:solidFill>
                  <a:srgbClr val="0F172A"/>
                </a:solidFill>
                <a:latin typeface="Google Sans Flex"/>
              </a:rPr>
              <a:t>What Assay does. </a:t>
            </a:r>
            <a:r>
              <a:rPr sz="960" b="0">
                <a:solidFill>
                  <a:srgbClr val="334155"/>
                </a:solidFill>
                <a:latin typeface="Google Sans Flex"/>
              </a:rPr>
              <a:t>It ingests a PDF or a topic, builds a gated syllabus anchored to page numbers, then runs a Socratic oral defense. The learner must derive, not recite. Every answer is verified against the source; ungrounded claims are refused instead of rewarded.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60" b="1">
                <a:solidFill>
                  <a:srgbClr val="0F172A"/>
                </a:solidFill>
                <a:latin typeface="Google Sans Flex"/>
              </a:rPr>
              <a:t>The mechanism. </a:t>
            </a:r>
            <a:r>
              <a:rPr sz="960" b="0">
                <a:solidFill>
                  <a:srgbClr val="334155"/>
                </a:solidFill>
                <a:latin typeface="Google Sans Flex"/>
              </a:rPr>
              <a:t>Deterministic honeypot terms — plausible but fictional — are injected into the dialogue. A learner who explains one fluently is bluffing, and the engine catches it.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40680" y="1298448"/>
            <a:ext cx="324612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0" y="14813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Google Sans Flex"/>
              </a:rPr>
              <a:t>THE LOOP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182880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07608" y="1792224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Intake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07608" y="20116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Intent + target role + optional PDF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0" y="2395728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07608" y="2359152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Scope checklist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07608" y="2578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Live-streamed topics, user-curated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0" y="2962656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07608" y="2926080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Gated syllabus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07608" y="314553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Chapters anchored to page numbers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0" y="3529584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07608" y="3493008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Socratic defense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07608" y="371246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Adversarial oral examination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0" y="409651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05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07608" y="4059936"/>
            <a:ext cx="2514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Verified dossier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07608" y="427939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Bloom-level report, citations intact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84048" y="1325880"/>
            <a:ext cx="4069080" cy="1783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700016" y="1325880"/>
            <a:ext cx="4069080" cy="178308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384048" y="1325880"/>
            <a:ext cx="4069080" cy="1783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00016" y="1325880"/>
            <a:ext cx="4069080" cy="178308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84048" y="1325880"/>
            <a:ext cx="4069080" cy="1783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5216" y="1463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64748B"/>
                </a:solidFill>
                <a:latin typeface="Google Sans Flex Medium"/>
              </a:rPr>
              <a:t>Existing tools</a:t>
            </a:r>
            <a:r>
              <a:rPr sz="850" b="0">
                <a:solidFill>
                  <a:srgbClr val="64748B"/>
                </a:solidFill>
                <a:latin typeface="Google Sans Flex"/>
              </a:rPr>
              <a:t>Answer dispensers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5216" y="1993392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ChatGPT / NotebookLM: summarise, then stop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Quiz generators: multiple choice, guessable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Flashcards: recognition, not derivation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No verification that the learner understood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00016" y="1325880"/>
            <a:ext cx="4069080" cy="178308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01184" y="1463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4F46E5"/>
                </a:solidFill>
                <a:latin typeface="Google Sans Flex Medium"/>
              </a:rPr>
              <a:t>Assay</a:t>
            </a:r>
            <a:r>
              <a:rPr sz="850" b="0">
                <a:solidFill>
                  <a:srgbClr val="64748B"/>
                </a:solidFill>
                <a:latin typeface="Google Sans Flex"/>
              </a:rPr>
              <a:t>Answer interrogators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01184" y="1993392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Learner must derive under adversarial probing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Open-ended defense, no multiple choice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Every claim grounded to a page or refused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Honeypot terms expose bluffing deterministically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4048" y="331012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Google Sans Flex Medium"/>
              </a:rPr>
              <a:t>Unique selling proposition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3639312"/>
            <a:ext cx="837590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Google Sans Flex"/>
              </a:rPr>
              <a:t>Assay is the only study tool whose output is a </a:t>
            </a:r>
            <a:r>
              <a:rPr sz="980" b="1">
                <a:solidFill>
                  <a:srgbClr val="4F46E5"/>
                </a:solidFill>
                <a:latin typeface="Google Sans Flex"/>
              </a:rPr>
              <a:t>defense transcript</a:t>
            </a:r>
            <a:r>
              <a:rPr sz="980" b="0">
                <a:solidFill>
                  <a:srgbClr val="334155"/>
                </a:solidFill>
                <a:latin typeface="Google Sans Flex"/>
              </a:rPr>
              <a:t>, not a summary. It is adversarial by design: the system actively tries to catch you bluffing, using fictional terms and false premises, and it scores the refusal. Grounding is enforced at the retrieval layer — recall@3 of </a:t>
            </a:r>
            <a:r>
              <a:rPr sz="980" b="1">
                <a:solidFill>
                  <a:srgbClr val="4F46E5"/>
                </a:solidFill>
                <a:latin typeface="Google Sans Flex"/>
              </a:rPr>
              <a:t>0.909</a:t>
            </a:r>
            <a:r>
              <a:rPr sz="980" b="0">
                <a:solidFill>
                  <a:srgbClr val="334155"/>
                </a:solidFill>
                <a:latin typeface="Google Sans Flex"/>
              </a:rPr>
              <a:t> over 22 questions, with a </a:t>
            </a:r>
            <a:r>
              <a:rPr sz="980" b="1">
                <a:solidFill>
                  <a:srgbClr val="4F46E5"/>
                </a:solidFill>
                <a:latin typeface="Google Sans Flex"/>
              </a:rPr>
              <a:t>100%</a:t>
            </a:r>
            <a:r>
              <a:rPr sz="980" b="0">
                <a:solidFill>
                  <a:srgbClr val="334155"/>
                </a:solidFill>
                <a:latin typeface="Google Sans Flex"/>
              </a:rPr>
              <a:t> refusal rate on the 2 unanswerable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84048" y="1298448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384048" y="1426464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4700016" y="1298448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4700016" y="1426464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384048" y="2267712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384048" y="2395728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4700016" y="2267712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4700016" y="2395728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84048" y="3236976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384048" y="3364992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4700016" y="3236976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4700016" y="3364992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384048" y="4206240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384048" y="4334256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4700016" y="4206240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4700016" y="4334256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84048" y="1298448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84048" y="1426464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700016" y="1298448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700016" y="1426464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384048" y="2267712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384048" y="2395728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4700016" y="2267712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700016" y="2395728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384048" y="3236976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384048" y="3364992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4700016" y="3236976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4700016" y="3364992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384048" y="4206240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384048" y="4334256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4700016" y="4206240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700016" y="4334256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84048" y="1298448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84048" y="1426464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6928" y="1408176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Intake &amp; calibration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1645920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Topic prompt or PDF upload, target engineering role, and three rigor levels (Foundation / Applied / Rigorous) that set the depth of questioning.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700016" y="1298448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4700016" y="1426464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882896" y="1408176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Realtime scope checklist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882896" y="1645920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Topics are streamed live via SSE as they are extracted, tagged by origin — document, role taxonomy, or grounded external — and the learner curates them.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84048" y="2267712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384048" y="2395728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66928" y="2377440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Gated syllabus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2615184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Content is chunked into chapters anchored to page numbers, so every later claim can be traced back to a specific page.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700016" y="2267712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4700016" y="2395728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882896" y="2377440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Socratic oral defense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82896" y="2615184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Turn-based adversarial dialogue. The learner must derive; the engine pushes back on hand-waving and follows up on weak answers.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4048" y="3236976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384048" y="3364992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66928" y="3346704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Anti-hallucination verifier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6928" y="3584448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Each response is checked against the retrieved source. Ungrounded claims are flagged and refused rather than accepted.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700016" y="3236976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4700016" y="3364992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882896" y="3346704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Honeypot detection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882896" y="3584448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Deterministic fictional terms are seeded into the dialogue. Explaining one fluently is scored as a hallucination, not as knowledge.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84048" y="4206240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384048" y="4334256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6928" y="4315968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Competency dossier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6928" y="4553712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A verified report with Bloom-level profiling, rubric scores per competency, and an audit record of the session.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700016" y="4206240"/>
            <a:ext cx="4041648" cy="84124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4700016" y="4334256"/>
            <a:ext cx="4572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882896" y="4315968"/>
            <a:ext cx="37216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Google Sans Flex Medium"/>
              </a:rPr>
              <a:t>Deterministic fallback cache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82896" y="4553712"/>
            <a:ext cx="3721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Google Sans Flex"/>
              </a:rPr>
              <a:t>A pre-computed response cache keeps the demo and the eval harness alive with zero crashes when the model API is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84048" y="1298448"/>
            <a:ext cx="83759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Google Sans Flex"/>
              </a:rPr>
              <a:t>Process flow — the gate is the product: a chapter never unlocks until it is defended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4048" y="1554480"/>
            <a:ext cx="3675887" cy="53035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21207" y="1682496"/>
            <a:ext cx="274320" cy="274320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21207" y="16824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F46E5"/>
                </a:solidFill>
                <a:latin typeface="Google Sans Flex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6112" y="1618488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Google Sans Flex Medium"/>
              </a:rPr>
              <a:t>Intake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6112" y="1819656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60" b="0">
                <a:solidFill>
                  <a:srgbClr val="64748B"/>
                </a:solidFill>
                <a:latin typeface="Google Sans Flex"/>
              </a:rPr>
              <a:t>Prompt or PDF, target role, rigor level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12466" y="2084831"/>
            <a:ext cx="19050" cy="128017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Isosceles Triangle 102"/>
          <p:cNvSpPr/>
          <p:nvPr/>
        </p:nvSpPr>
        <p:spPr>
          <a:xfrm rot="10800000">
            <a:off x="2177541" y="2123948"/>
            <a:ext cx="88900" cy="889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84048" y="2212848"/>
            <a:ext cx="3675887" cy="53035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21207" y="2340864"/>
            <a:ext cx="274320" cy="274320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1207" y="23408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F46E5"/>
                </a:solidFill>
                <a:latin typeface="Google Sans Flex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6112" y="2276856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Google Sans Flex Medium"/>
              </a:rPr>
              <a:t>Realtime checklist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6112" y="2478024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60" b="0">
                <a:solidFill>
                  <a:srgbClr val="64748B"/>
                </a:solidFill>
                <a:latin typeface="Google Sans Flex"/>
              </a:rPr>
              <a:t>Topics streamed over SSE, learner curates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12466" y="2743200"/>
            <a:ext cx="19050" cy="12801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Isosceles Triangle 109"/>
          <p:cNvSpPr/>
          <p:nvPr/>
        </p:nvSpPr>
        <p:spPr>
          <a:xfrm rot="10800000">
            <a:off x="2177541" y="2782315"/>
            <a:ext cx="88900" cy="889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84048" y="2871215"/>
            <a:ext cx="3675887" cy="53035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21207" y="2999232"/>
            <a:ext cx="274320" cy="274320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1207" y="29992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F46E5"/>
                </a:solidFill>
                <a:latin typeface="Google Sans Flex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6112" y="2935223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Google Sans Flex Medium"/>
              </a:rPr>
              <a:t>Gated syllabus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6112" y="3136391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60" b="0">
                <a:solidFill>
                  <a:srgbClr val="64748B"/>
                </a:solidFill>
                <a:latin typeface="Google Sans Flex"/>
              </a:rPr>
              <a:t>Chapters chunked, every claim page-anchored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12466" y="3401568"/>
            <a:ext cx="19050" cy="12801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Isosceles Triangle 116"/>
          <p:cNvSpPr/>
          <p:nvPr/>
        </p:nvSpPr>
        <p:spPr>
          <a:xfrm rot="10800000">
            <a:off x="2177541" y="3440683"/>
            <a:ext cx="88900" cy="889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84048" y="3529584"/>
            <a:ext cx="3675887" cy="53035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21207" y="3657600"/>
            <a:ext cx="274320" cy="274320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7" y="365760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F46E5"/>
                </a:solidFill>
                <a:latin typeface="Google Sans Flex"/>
              </a:rPr>
              <a:t>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6112" y="3593592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Google Sans Flex Medium"/>
              </a:rPr>
              <a:t>Gated chapter reader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6112" y="3794760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60" b="0">
                <a:solidFill>
                  <a:srgbClr val="64748B"/>
                </a:solidFill>
                <a:latin typeface="Google Sans Flex"/>
              </a:rPr>
              <a:t>Source text and Socratic ask, side by side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12466" y="4059936"/>
            <a:ext cx="19050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Isosceles Triangle 123"/>
          <p:cNvSpPr/>
          <p:nvPr/>
        </p:nvSpPr>
        <p:spPr>
          <a:xfrm rot="10800000">
            <a:off x="2177541" y="4099052"/>
            <a:ext cx="88900" cy="889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384048" y="4187952"/>
            <a:ext cx="3675887" cy="530352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21207" y="43159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21207" y="43159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F46E5"/>
                </a:solidFill>
                <a:latin typeface="Google Sans Flex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6112" y="4251960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Google Sans Flex Medium"/>
              </a:rPr>
              <a:t>Oral defense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6112" y="4453128"/>
            <a:ext cx="3035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60" b="0">
                <a:solidFill>
                  <a:srgbClr val="E0E3FF"/>
                </a:solidFill>
                <a:latin typeface="Google Sans Flex"/>
              </a:rPr>
              <a:t>Adversarial turns, honeypot injected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480560" y="1554480"/>
            <a:ext cx="4279392" cy="80467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81728" y="1655064"/>
            <a:ext cx="38770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40" b="1">
                <a:solidFill>
                  <a:srgbClr val="4F46E5"/>
                </a:solidFill>
                <a:latin typeface="Google Sans Flex"/>
              </a:rPr>
              <a:t>Gate condition: </a:t>
            </a:r>
            <a:r>
              <a:rPr sz="840" b="0">
                <a:solidFill>
                  <a:srgbClr val="334155"/>
                </a:solidFill>
                <a:latin typeface="Google Sans Flex"/>
              </a:rPr>
              <a:t>a chapter unlocks only when its defense scores ≥ 75. Fail → the same chapter is re-read, not the whole course restarted. Pass → the next chapter unlocks. The dossier is assembled only after the last chapter, from transcripts that actually happened.</a:t>
            </a:r>
          </a:p>
        </p:txBody>
      </p:sp>
      <p:sp>
        <p:nvSpPr>
          <p:cNvPr id="132" name="Diamond 131"/>
          <p:cNvSpPr/>
          <p:nvPr/>
        </p:nvSpPr>
        <p:spPr>
          <a:xfrm>
            <a:off x="4754880" y="4078224"/>
            <a:ext cx="1554480" cy="74980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965192" y="4233672"/>
            <a:ext cx="113385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72A"/>
                </a:solidFill>
                <a:latin typeface="Google Sans Flex Medium"/>
              </a:rPr>
              <a:t>Defense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72A"/>
                </a:solidFill>
                <a:latin typeface="Google Sans Flex Medium"/>
              </a:rPr>
              <a:t>score ≥ 75?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059935" y="4443603"/>
            <a:ext cx="694945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Isosceles Triangle 134"/>
          <p:cNvSpPr/>
          <p:nvPr/>
        </p:nvSpPr>
        <p:spPr>
          <a:xfrm rot="5400000">
            <a:off x="4665980" y="4408678"/>
            <a:ext cx="88900" cy="889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iamond 135"/>
          <p:cNvSpPr/>
          <p:nvPr/>
        </p:nvSpPr>
        <p:spPr>
          <a:xfrm>
            <a:off x="6126480" y="3273552"/>
            <a:ext cx="1554480" cy="7315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36792" y="3419856"/>
            <a:ext cx="113385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72A"/>
                </a:solidFill>
                <a:latin typeface="Google Sans Flex Medium"/>
              </a:rPr>
              <a:t>Last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172A"/>
                </a:solidFill>
                <a:latin typeface="Google Sans Flex Medium"/>
              </a:rPr>
              <a:t>chapter?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309359" y="4443603"/>
            <a:ext cx="594361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94195" y="4005072"/>
            <a:ext cx="19050" cy="4480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Isosceles Triangle 139"/>
          <p:cNvSpPr/>
          <p:nvPr/>
        </p:nvSpPr>
        <p:spPr>
          <a:xfrm>
            <a:off x="6859270" y="4005072"/>
            <a:ext cx="88900" cy="88900"/>
          </a:xfrm>
          <a:prstGeom prst="triangl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36792" y="448970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0B981"/>
                </a:solidFill>
                <a:latin typeface="Google Sans Flex"/>
              </a:rPr>
              <a:t>yes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053328" y="2487168"/>
            <a:ext cx="1700784" cy="56692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99632" y="2578608"/>
            <a:ext cx="14081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Google Sans Flex Medium"/>
              </a:rPr>
              <a:t>Dossier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99632" y="2779776"/>
            <a:ext cx="14081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DCFCEE"/>
                </a:solidFill>
                <a:latin typeface="Google Sans Flex"/>
              </a:rPr>
              <a:t>Bloom profile, audit record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94195" y="3054096"/>
            <a:ext cx="19050" cy="2194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Isosceles Triangle 145"/>
          <p:cNvSpPr/>
          <p:nvPr/>
        </p:nvSpPr>
        <p:spPr>
          <a:xfrm>
            <a:off x="6859270" y="3054096"/>
            <a:ext cx="88900" cy="88900"/>
          </a:xfrm>
          <a:prstGeom prst="triangl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76872" y="3072384"/>
            <a:ext cx="365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0B981"/>
                </a:solidFill>
                <a:latin typeface="Google Sans Flex"/>
              </a:rPr>
              <a:t>yes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522595" y="3840480"/>
            <a:ext cx="19050" cy="2377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059935" y="3830955"/>
            <a:ext cx="1472185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Isosceles Triangle 149"/>
          <p:cNvSpPr/>
          <p:nvPr/>
        </p:nvSpPr>
        <p:spPr>
          <a:xfrm rot="16200000">
            <a:off x="4059935" y="3796030"/>
            <a:ext cx="88900" cy="88900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596128" y="3877056"/>
            <a:ext cx="3108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F59E0B"/>
                </a:solidFill>
                <a:latin typeface="Google Sans Flex"/>
              </a:rPr>
              <a:t>no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059935" y="3629787"/>
            <a:ext cx="2066545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Isosceles Triangle 152"/>
          <p:cNvSpPr/>
          <p:nvPr/>
        </p:nvSpPr>
        <p:spPr>
          <a:xfrm rot="16200000">
            <a:off x="4059935" y="3594862"/>
            <a:ext cx="88900" cy="889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797296" y="3666744"/>
            <a:ext cx="3108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4F46E5"/>
                </a:solidFill>
                <a:latin typeface="Google Sans Flex"/>
              </a:rPr>
              <a:t>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84048" y="14173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384048" y="23317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84048" y="32461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2057400" y="14173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2057400" y="23317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2057400" y="32461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5074920" y="14173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5074920" y="23317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5074920" y="32461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7360920" y="14173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7360920" y="23317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7360920" y="32461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847088" y="17552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Isosceles Triangle 148"/>
          <p:cNvSpPr/>
          <p:nvPr/>
        </p:nvSpPr>
        <p:spPr>
          <a:xfrm rot="5400000">
            <a:off x="1962912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005072" y="17552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Isosceles Triangle 150"/>
          <p:cNvSpPr/>
          <p:nvPr/>
        </p:nvSpPr>
        <p:spPr>
          <a:xfrm rot="5400000">
            <a:off x="4980432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022592" y="17552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Isosceles Triangle 152"/>
          <p:cNvSpPr/>
          <p:nvPr/>
        </p:nvSpPr>
        <p:spPr>
          <a:xfrm rot="5400000">
            <a:off x="7266431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847088" y="26696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Isosceles Triangle 154"/>
          <p:cNvSpPr/>
          <p:nvPr/>
        </p:nvSpPr>
        <p:spPr>
          <a:xfrm rot="5400000">
            <a:off x="1962912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4005072" y="26696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Isosceles Triangle 156"/>
          <p:cNvSpPr/>
          <p:nvPr/>
        </p:nvSpPr>
        <p:spPr>
          <a:xfrm rot="5400000">
            <a:off x="4980432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022592" y="26696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Isosceles Triangle 158"/>
          <p:cNvSpPr/>
          <p:nvPr/>
        </p:nvSpPr>
        <p:spPr>
          <a:xfrm rot="5400000">
            <a:off x="7266431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847088" y="35840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Isosceles Triangle 160"/>
          <p:cNvSpPr/>
          <p:nvPr/>
        </p:nvSpPr>
        <p:spPr>
          <a:xfrm rot="5400000">
            <a:off x="1962912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4005072" y="35840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Isosceles Triangle 162"/>
          <p:cNvSpPr/>
          <p:nvPr/>
        </p:nvSpPr>
        <p:spPr>
          <a:xfrm rot="5400000">
            <a:off x="4980432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7022592" y="35840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Isosceles Triangle 164"/>
          <p:cNvSpPr/>
          <p:nvPr/>
        </p:nvSpPr>
        <p:spPr>
          <a:xfrm rot="5400000">
            <a:off x="7266431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384048" y="4206240"/>
            <a:ext cx="8375904" cy="658368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384048" y="14173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384048" y="23317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384048" y="32461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057400" y="14173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2057400" y="23317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2057400" y="32461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5074920" y="14173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5074920" y="23317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5074920" y="32461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7360920" y="14173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7360920" y="23317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7360920" y="32461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847088" y="17552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Isosceles Triangle 203"/>
          <p:cNvSpPr/>
          <p:nvPr/>
        </p:nvSpPr>
        <p:spPr>
          <a:xfrm rot="5400000">
            <a:off x="1962912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005072" y="17552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Isosceles Triangle 205"/>
          <p:cNvSpPr/>
          <p:nvPr/>
        </p:nvSpPr>
        <p:spPr>
          <a:xfrm rot="5400000">
            <a:off x="4980432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022592" y="17552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Isosceles Triangle 207"/>
          <p:cNvSpPr/>
          <p:nvPr/>
        </p:nvSpPr>
        <p:spPr>
          <a:xfrm rot="5400000">
            <a:off x="7266431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847088" y="26696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Isosceles Triangle 209"/>
          <p:cNvSpPr/>
          <p:nvPr/>
        </p:nvSpPr>
        <p:spPr>
          <a:xfrm rot="5400000">
            <a:off x="1962912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005072" y="26696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Isosceles Triangle 211"/>
          <p:cNvSpPr/>
          <p:nvPr/>
        </p:nvSpPr>
        <p:spPr>
          <a:xfrm rot="5400000">
            <a:off x="4980432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022592" y="26696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Isosceles Triangle 213"/>
          <p:cNvSpPr/>
          <p:nvPr/>
        </p:nvSpPr>
        <p:spPr>
          <a:xfrm rot="5400000">
            <a:off x="7266431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847088" y="35840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Isosceles Triangle 215"/>
          <p:cNvSpPr/>
          <p:nvPr/>
        </p:nvSpPr>
        <p:spPr>
          <a:xfrm rot="5400000">
            <a:off x="1962912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005072" y="35840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Isosceles Triangle 217"/>
          <p:cNvSpPr/>
          <p:nvPr/>
        </p:nvSpPr>
        <p:spPr>
          <a:xfrm rot="5400000">
            <a:off x="4980432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22592" y="35840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Isosceles Triangle 219"/>
          <p:cNvSpPr/>
          <p:nvPr/>
        </p:nvSpPr>
        <p:spPr>
          <a:xfrm rot="5400000">
            <a:off x="7266431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384048" y="4206240"/>
            <a:ext cx="8375904" cy="658368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384048" y="14173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21208" y="1536192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Google Sans Flex"/>
              </a:rPr>
              <a:t>CLIENT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21208" y="176479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Google Sans Flex"/>
              </a:rPr>
              <a:t>React 18 + Vite + TypeScript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384048" y="23317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21208" y="2450591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4F46E5"/>
                </a:solidFill>
                <a:latin typeface="Google Sans Flex"/>
              </a:rPr>
              <a:t>API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21208" y="2679191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Google Sans Flex"/>
              </a:rPr>
              <a:t>FastAPI · Python 3.11 · SSE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384048" y="3246120"/>
            <a:ext cx="141732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21208" y="3364991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Google Sans Flex"/>
              </a:rPr>
              <a:t>ENGINE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21208" y="3593591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Google Sans Flex"/>
              </a:rPr>
              <a:t>Assay core · Gemini · retrieval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2057400" y="14173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176272" y="150876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Pages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176272" y="1719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27 routes
Dashboard · Intake · Reader · Exam · Report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2057400" y="23317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176272" y="242316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Endpoints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76272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intake · syllabus · interview · report · calibration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057400" y="32461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176272" y="333756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Repositories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176272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SessionStore · ChapterStore · InterviewStore (in-memory, Firestore port stubbed)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074920" y="14173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193792" y="150876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State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193792" y="1719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Zustand stores
routing via react-router 7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5074920" y="23317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5193792" y="242316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Streaming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193792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SSE via sse-starlette
intake checklist partial events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5074920" y="3246120"/>
            <a:ext cx="1920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5193792" y="333756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Retrieval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193792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PyMuPDF page-anchored extraction
recall@3 = 0.909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7360920" y="14173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479792" y="150876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Gemini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479792" y="171907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google-genai SDK
gemini-3-flash / 3.1-pro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7360920" y="23317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7479792" y="242316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Verifier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79792" y="263347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grounding check per turn
6/6 caught in eval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360920" y="3246120"/>
            <a:ext cx="1508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479792" y="333756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 Medium"/>
              </a:rPr>
              <a:t>Fallback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479792" y="354787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64748B"/>
                </a:solidFill>
                <a:latin typeface="Google Sans Flex"/>
              </a:rPr>
              <a:t>deterministic cache
zero-crash demo mode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847088" y="17552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Isosceles Triangle 258"/>
          <p:cNvSpPr/>
          <p:nvPr/>
        </p:nvSpPr>
        <p:spPr>
          <a:xfrm rot="5400000">
            <a:off x="1962912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005072" y="17552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Isosceles Triangle 260"/>
          <p:cNvSpPr/>
          <p:nvPr/>
        </p:nvSpPr>
        <p:spPr>
          <a:xfrm rot="5400000">
            <a:off x="4980432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7022592" y="17552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Isosceles Triangle 262"/>
          <p:cNvSpPr/>
          <p:nvPr/>
        </p:nvSpPr>
        <p:spPr>
          <a:xfrm rot="5400000">
            <a:off x="7266431" y="17139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847088" y="26696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Isosceles Triangle 264"/>
          <p:cNvSpPr/>
          <p:nvPr/>
        </p:nvSpPr>
        <p:spPr>
          <a:xfrm rot="5400000">
            <a:off x="1962912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005072" y="26696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Isosceles Triangle 266"/>
          <p:cNvSpPr/>
          <p:nvPr/>
        </p:nvSpPr>
        <p:spPr>
          <a:xfrm rot="5400000">
            <a:off x="4980432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7022592" y="26696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Isosceles Triangle 268"/>
          <p:cNvSpPr/>
          <p:nvPr/>
        </p:nvSpPr>
        <p:spPr>
          <a:xfrm rot="5400000">
            <a:off x="7266431" y="26283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847088" y="3584067"/>
            <a:ext cx="128524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Isosceles Triangle 270"/>
          <p:cNvSpPr/>
          <p:nvPr/>
        </p:nvSpPr>
        <p:spPr>
          <a:xfrm rot="5400000">
            <a:off x="1962912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005072" y="3584067"/>
            <a:ext cx="98806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Isosceles Triangle 272"/>
          <p:cNvSpPr/>
          <p:nvPr/>
        </p:nvSpPr>
        <p:spPr>
          <a:xfrm rot="5400000">
            <a:off x="4980432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022592" y="3584067"/>
            <a:ext cx="256539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Isosceles Triangle 274"/>
          <p:cNvSpPr/>
          <p:nvPr/>
        </p:nvSpPr>
        <p:spPr>
          <a:xfrm rot="5400000">
            <a:off x="7266431" y="3542792"/>
            <a:ext cx="76200" cy="101600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384048" y="4206240"/>
            <a:ext cx="8375904" cy="658368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12648" y="43159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Deployment: </a:t>
            </a:r>
            <a:r>
              <a:rPr sz="900" b="0">
                <a:solidFill>
                  <a:srgbClr val="334155"/>
                </a:solidFill>
                <a:latin typeface="Google Sans Flex"/>
              </a:rPr>
              <a:t>two Cloud Run services — nginx serving the built Vite bundle, proxying /api to the FastAPI service. FirestoreStore activates when credentials are present; otherwise the in-memory store is used, so no database is required to run the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84048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2505456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4626864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6748272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384048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2505456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4626864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6748272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384048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1444752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FRONTEND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1755648"/>
            <a:ext cx="17190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React 18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TypeScript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Vite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Tailwind CSS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Zustand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react-router 7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Lucide icons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KaTeX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505456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70048" y="1444752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BACKEND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670048" y="1755648"/>
            <a:ext cx="17190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Python 3.11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FastAPI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Uvicorn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Pydantic v2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sse-starlette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PyMuPDF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626864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791456" y="1444752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AI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91456" y="1755648"/>
            <a:ext cx="17190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Gemini 3 Flash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Gemini 3.1 Pro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google-genai SDK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Deterministic honeypot catalog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Grounded verifier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748272" y="1298448"/>
            <a:ext cx="199339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912864" y="1444752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F46E5"/>
                </a:solidFill>
                <a:latin typeface="Google Sans Flex"/>
              </a:rPr>
              <a:t>PLATFORM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12864" y="1755648"/>
            <a:ext cx="17190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Google Cloud Run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Docker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GitHub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·  pytest (219 tests)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4048" y="3840480"/>
            <a:ext cx="8375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Google Sans Flex"/>
              </a:rPr>
              <a:t>Why this stack: </a:t>
            </a:r>
            <a:r>
              <a:rPr sz="950" b="0">
                <a:solidFill>
                  <a:srgbClr val="334155"/>
                </a:solidFill>
                <a:latin typeface="Google Sans Flex"/>
              </a:rPr>
              <a:t>everything Google-side is the official SDK and the Gemini API, so the AI layer is a thin, auditable wrapper rather than a framework. The frontend stays on Vite because the whole app is a client-rendered SPA behind one API origin — no server rendering needed, and the build ships as static assets inside the same container.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4048" y="4526280"/>
            <a:ext cx="8375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219 automated backend tests · 11 test modules · deterministic eval harness in eval/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384048" y="3794760"/>
            <a:ext cx="8275320" cy="3017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384048" y="3794760"/>
            <a:ext cx="8275320" cy="3017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84048" y="129844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Monthly estimate at three scales. Gemini list price: $0.50 / 1M input, $3.00 / 1M output (gemini-3-flash, paid tier).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584448" y="1691640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"/>
              </a:rPr>
              <a:t>Pilot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276088" y="1691640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"/>
              </a:rPr>
              <a:t>Classroom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67728" y="1691640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"/>
              </a:rPr>
              <a:t>Department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2020824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Active learners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584448" y="2020824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10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276088" y="2020824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100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967728" y="2020824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1,000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84048" y="2322576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Defense turns / learner / month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584448" y="2322576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60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276088" y="2322576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60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967728" y="2322576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60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84048" y="2624328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Gemini input tokens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584448" y="2624328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0.6M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276088" y="2624328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6M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967728" y="2624328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60M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84048" y="2926080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Gemini output tokens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584448" y="2926080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0.9M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276088" y="2926080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9M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967728" y="2926080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90M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84048" y="3227832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Gemini cost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584448" y="3227832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$2.43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276088" y="3227832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$24.30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967728" y="3227832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$243.00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84048" y="3529584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Cloud Run (2 vCPU / 2 GiB, scale-to-zero)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584448" y="3529584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≈ $3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276088" y="3529584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≈ $12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967728" y="3529584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≈ $60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384048" y="3794760"/>
            <a:ext cx="8275320" cy="3017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84048" y="3831336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0F172A"/>
                </a:solidFill>
                <a:latin typeface="Google Sans Flex"/>
              </a:rPr>
              <a:t>Total / month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584448" y="3831336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0F172A"/>
                </a:solidFill>
                <a:latin typeface="Google Sans Flex"/>
              </a:rPr>
              <a:t>≈ $5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276088" y="3831336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0F172A"/>
                </a:solidFill>
                <a:latin typeface="Google Sans Flex"/>
              </a:rPr>
              <a:t>≈ $36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967728" y="3831336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1">
                <a:solidFill>
                  <a:srgbClr val="0F172A"/>
                </a:solidFill>
                <a:latin typeface="Google Sans Flex"/>
              </a:rPr>
              <a:t>≈ $303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84048" y="4133088"/>
            <a:ext cx="320040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Google Sans Flex"/>
              </a:rPr>
              <a:t>Cost per learner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584448" y="4133088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≈ $0.24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276088" y="4133088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≈ $0.24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967728" y="4133088"/>
            <a:ext cx="16916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Google Sans Flex"/>
              </a:rPr>
              <a:t>≈ $0.24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84048" y="4343400"/>
            <a:ext cx="8375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>
                <a:solidFill>
                  <a:srgbClr val="0F172A"/>
                </a:solidFill>
                <a:latin typeface="Google Sans Flex"/>
              </a:rPr>
              <a:t>Assumptions, stated so they can be challenged: </a:t>
            </a:r>
            <a:r>
              <a:rPr sz="800" b="0">
                <a:solidFill>
                  <a:srgbClr val="64748B"/>
                </a:solidFill>
                <a:latin typeface="Google Sans Flex"/>
              </a:rPr>
              <a:t>60 defense turns per learner per month at ~1k input and ~1.5k output tokens per turn. Cloud Run figures are order-of-magnitude for a scale-to-zero service and exclude the free tier. Gemini pricing is the published paid-tier list price; the free tier covers the pilot.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int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98448"/>
            <a:ext cx="2697480" cy="1234440"/>
          </a:xfrm>
          <a:prstGeom prst="rect">
            <a:avLst/>
          </a:prstGeom>
        </p:spPr>
      </p:pic>
      <p:sp>
        <p:nvSpPr>
          <p:cNvPr id="137" name="Rounded Rectangle 136"/>
          <p:cNvSpPr/>
          <p:nvPr/>
        </p:nvSpPr>
        <p:spPr>
          <a:xfrm>
            <a:off x="384048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0" name="Picture 139" descr="road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1298448"/>
            <a:ext cx="2697480" cy="1234440"/>
          </a:xfrm>
          <a:prstGeom prst="rect">
            <a:avLst/>
          </a:prstGeom>
        </p:spPr>
      </p:pic>
      <p:sp>
        <p:nvSpPr>
          <p:cNvPr id="141" name="Rounded Rectangle 140"/>
          <p:cNvSpPr/>
          <p:nvPr/>
        </p:nvSpPr>
        <p:spPr>
          <a:xfrm>
            <a:off x="3227832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4" name="Picture 143" descr="rea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1298448"/>
            <a:ext cx="2697480" cy="123444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6071616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8" name="Picture 147" descr="ex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374136"/>
            <a:ext cx="2697480" cy="1234440"/>
          </a:xfrm>
          <a:prstGeom prst="rect">
            <a:avLst/>
          </a:prstGeom>
        </p:spPr>
      </p:pic>
      <p:sp>
        <p:nvSpPr>
          <p:cNvPr id="149" name="Rounded Rectangle 148"/>
          <p:cNvSpPr/>
          <p:nvPr/>
        </p:nvSpPr>
        <p:spPr>
          <a:xfrm>
            <a:off x="384048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2" name="Picture 151" descr="rep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7832" y="3374136"/>
            <a:ext cx="2697480" cy="1234440"/>
          </a:xfrm>
          <a:prstGeom prst="rect">
            <a:avLst/>
          </a:prstGeom>
        </p:spPr>
      </p:pic>
      <p:sp>
        <p:nvSpPr>
          <p:cNvPr id="153" name="Rounded Rectangle 152"/>
          <p:cNvSpPr/>
          <p:nvPr/>
        </p:nvSpPr>
        <p:spPr>
          <a:xfrm>
            <a:off x="3227832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6" name="Picture 155" descr="dash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616" y="3374136"/>
            <a:ext cx="2697480" cy="1234440"/>
          </a:xfrm>
          <a:prstGeom prst="rect">
            <a:avLst/>
          </a:prstGeom>
        </p:spPr>
      </p:pic>
      <p:sp>
        <p:nvSpPr>
          <p:cNvPr id="157" name="Rounded Rectangle 156"/>
          <p:cNvSpPr/>
          <p:nvPr/>
        </p:nvSpPr>
        <p:spPr>
          <a:xfrm>
            <a:off x="6071616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98448"/>
            <a:ext cx="2697480" cy="1234440"/>
          </a:xfrm>
          <a:prstGeom prst="rect">
            <a:avLst/>
          </a:prstGeom>
        </p:spPr>
      </p:pic>
      <p:sp>
        <p:nvSpPr>
          <p:cNvPr id="159" name="Rounded Rectangle 158"/>
          <p:cNvSpPr/>
          <p:nvPr/>
        </p:nvSpPr>
        <p:spPr>
          <a:xfrm>
            <a:off x="384048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1298448"/>
            <a:ext cx="2697480" cy="1234440"/>
          </a:xfrm>
          <a:prstGeom prst="rect">
            <a:avLst/>
          </a:prstGeom>
        </p:spPr>
      </p:pic>
      <p:sp>
        <p:nvSpPr>
          <p:cNvPr id="163" name="Rounded Rectangle 162"/>
          <p:cNvSpPr/>
          <p:nvPr/>
        </p:nvSpPr>
        <p:spPr>
          <a:xfrm>
            <a:off x="3227832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1298448"/>
            <a:ext cx="2697480" cy="1234440"/>
          </a:xfrm>
          <a:prstGeom prst="rect">
            <a:avLst/>
          </a:prstGeom>
        </p:spPr>
      </p:pic>
      <p:sp>
        <p:nvSpPr>
          <p:cNvPr id="167" name="Rounded Rectangle 166"/>
          <p:cNvSpPr/>
          <p:nvPr/>
        </p:nvSpPr>
        <p:spPr>
          <a:xfrm>
            <a:off x="6071616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374136"/>
            <a:ext cx="2697480" cy="1234440"/>
          </a:xfrm>
          <a:prstGeom prst="rect">
            <a:avLst/>
          </a:prstGeom>
        </p:spPr>
      </p:pic>
      <p:sp>
        <p:nvSpPr>
          <p:cNvPr id="171" name="Rounded Rectangle 170"/>
          <p:cNvSpPr/>
          <p:nvPr/>
        </p:nvSpPr>
        <p:spPr>
          <a:xfrm>
            <a:off x="384048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7832" y="3374136"/>
            <a:ext cx="2697480" cy="1234440"/>
          </a:xfrm>
          <a:prstGeom prst="rect">
            <a:avLst/>
          </a:prstGeom>
        </p:spPr>
      </p:pic>
      <p:sp>
        <p:nvSpPr>
          <p:cNvPr id="175" name="Rounded Rectangle 174"/>
          <p:cNvSpPr/>
          <p:nvPr/>
        </p:nvSpPr>
        <p:spPr>
          <a:xfrm>
            <a:off x="3227832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616" y="3374136"/>
            <a:ext cx="2697480" cy="1234440"/>
          </a:xfrm>
          <a:prstGeom prst="rect">
            <a:avLst/>
          </a:prstGeom>
        </p:spPr>
      </p:pic>
      <p:sp>
        <p:nvSpPr>
          <p:cNvPr id="179" name="Rounded Rectangle 178"/>
          <p:cNvSpPr/>
          <p:nvPr/>
        </p:nvSpPr>
        <p:spPr>
          <a:xfrm>
            <a:off x="6071616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98448"/>
            <a:ext cx="2697480" cy="1234440"/>
          </a:xfrm>
          <a:prstGeom prst="rect">
            <a:avLst/>
          </a:prstGeom>
        </p:spPr>
      </p:pic>
      <p:sp>
        <p:nvSpPr>
          <p:cNvPr id="181" name="Rounded Rectangle 180"/>
          <p:cNvSpPr/>
          <p:nvPr/>
        </p:nvSpPr>
        <p:spPr>
          <a:xfrm>
            <a:off x="384048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84048" y="2578608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Intake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84048" y="2724912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64748B"/>
                </a:solidFill>
                <a:latin typeface="Google Sans Flex"/>
              </a:rPr>
              <a:t>Prompt or PDF, role, and rigor calibration</a:t>
            </a:r>
          </a:p>
        </p:txBody>
      </p:sp>
      <p:pic>
        <p:nvPicPr>
          <p:cNvPr id="184" name="Picture 18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1298448"/>
            <a:ext cx="2697480" cy="1234440"/>
          </a:xfrm>
          <a:prstGeom prst="rect">
            <a:avLst/>
          </a:prstGeom>
        </p:spPr>
      </p:pic>
      <p:sp>
        <p:nvSpPr>
          <p:cNvPr id="185" name="Rounded Rectangle 184"/>
          <p:cNvSpPr/>
          <p:nvPr/>
        </p:nvSpPr>
        <p:spPr>
          <a:xfrm>
            <a:off x="3227832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27832" y="2578608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Gated syllabus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227832" y="2724912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64748B"/>
                </a:solidFill>
                <a:latin typeface="Google Sans Flex"/>
              </a:rPr>
              <a:t>Modules with concept counts and duration</a:t>
            </a:r>
          </a:p>
        </p:txBody>
      </p:sp>
      <p:pic>
        <p:nvPicPr>
          <p:cNvPr id="188" name="Picture 18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1298448"/>
            <a:ext cx="2697480" cy="1234440"/>
          </a:xfrm>
          <a:prstGeom prst="rect">
            <a:avLst/>
          </a:prstGeom>
        </p:spPr>
      </p:pic>
      <p:sp>
        <p:nvSpPr>
          <p:cNvPr id="189" name="Rounded Rectangle 188"/>
          <p:cNvSpPr/>
          <p:nvPr/>
        </p:nvSpPr>
        <p:spPr>
          <a:xfrm>
            <a:off x="6071616" y="1298448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071616" y="2578608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Deep reader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071616" y="2724912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64748B"/>
                </a:solidFill>
                <a:latin typeface="Google Sans Flex"/>
              </a:rPr>
              <a:t>Source text and Socratic dialogue side by side</a:t>
            </a:r>
          </a:p>
        </p:txBody>
      </p:sp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374136"/>
            <a:ext cx="2697480" cy="1234440"/>
          </a:xfrm>
          <a:prstGeom prst="rect">
            <a:avLst/>
          </a:prstGeom>
        </p:spPr>
      </p:pic>
      <p:sp>
        <p:nvSpPr>
          <p:cNvPr id="193" name="Rounded Rectangle 192"/>
          <p:cNvSpPr/>
          <p:nvPr/>
        </p:nvSpPr>
        <p:spPr>
          <a:xfrm>
            <a:off x="384048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84048" y="4654296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Oral defense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84048" y="4800600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64748B"/>
                </a:solidFill>
                <a:latin typeface="Google Sans Flex"/>
              </a:rPr>
              <a:t>Adversarial turn with live rubric scores</a:t>
            </a:r>
          </a:p>
        </p:txBody>
      </p:sp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7832" y="3374136"/>
            <a:ext cx="2697480" cy="1234440"/>
          </a:xfrm>
          <a:prstGeom prst="rect">
            <a:avLst/>
          </a:prstGeom>
        </p:spPr>
      </p:pic>
      <p:sp>
        <p:nvSpPr>
          <p:cNvPr id="197" name="Rounded Rectangle 196"/>
          <p:cNvSpPr/>
          <p:nvPr/>
        </p:nvSpPr>
        <p:spPr>
          <a:xfrm>
            <a:off x="3227832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227832" y="4654296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Dossier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227832" y="4800600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64748B"/>
                </a:solidFill>
                <a:latin typeface="Google Sans Flex"/>
              </a:rPr>
              <a:t>Bloom profile, rubric, audit record</a:t>
            </a:r>
          </a:p>
        </p:txBody>
      </p:sp>
      <p:pic>
        <p:nvPicPr>
          <p:cNvPr id="200" name="Picture 19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616" y="3374136"/>
            <a:ext cx="2697480" cy="1234440"/>
          </a:xfrm>
          <a:prstGeom prst="rect">
            <a:avLst/>
          </a:prstGeom>
        </p:spPr>
      </p:pic>
      <p:sp>
        <p:nvSpPr>
          <p:cNvPr id="201" name="Rounded Rectangle 200"/>
          <p:cNvSpPr/>
          <p:nvPr/>
        </p:nvSpPr>
        <p:spPr>
          <a:xfrm>
            <a:off x="6071616" y="3374136"/>
            <a:ext cx="2697480" cy="1234440"/>
          </a:xfrm>
          <a:prstGeom prst="roundRect">
            <a:avLst>
              <a:gd name="adj" fmla="val 2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071616" y="4654296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Dashboard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071616" y="4800600"/>
            <a:ext cx="2697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0">
                <a:solidFill>
                  <a:srgbClr val="64748B"/>
                </a:solidFill>
                <a:latin typeface="Google Sans Flex"/>
              </a:rPr>
              <a:t>Progress, defenses passed, upcoming defense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4892040" y="1691640"/>
            <a:ext cx="3794760" cy="178308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4892040" y="3611880"/>
            <a:ext cx="3794760" cy="1234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ounded Rectangle 209"/>
          <p:cNvSpPr/>
          <p:nvPr/>
        </p:nvSpPr>
        <p:spPr>
          <a:xfrm>
            <a:off x="4892040" y="1691640"/>
            <a:ext cx="3794760" cy="178308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4892040" y="3611880"/>
            <a:ext cx="3794760" cy="1234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84048" y="129844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All figures from the deterministic harness in eval/ — no LLM judge, no rounding up.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84048" y="169164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64748B"/>
                </a:solidFill>
                <a:latin typeface="Google Sans Flex"/>
              </a:rPr>
              <a:t>Metric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350008" y="169164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64748B"/>
                </a:solidFill>
                <a:latin typeface="Google Sans Flex"/>
              </a:rPr>
              <a:t>Result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511296" y="169164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64748B"/>
                </a:solidFill>
                <a:latin typeface="Google Sans Flex"/>
              </a:rPr>
              <a:t>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84048" y="19659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Verifier catch rate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350008" y="196596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6 / 6  (100%)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511296" y="1965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84048" y="224028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Structured output validity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350008" y="22402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2 / 2  (100%)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511296" y="224028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84048" y="25146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Trap: fictional term detected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350008" y="251460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100%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511296" y="25146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84048" y="2788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Trap: trap number detected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350008" y="27889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100%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511296" y="27889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84048" y="306324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Trap: false premise detected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350008" y="306324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50%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511296" y="306324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84048" y="33375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RAG recall@3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350008" y="333756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0.909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511296" y="33375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84048" y="361188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RAG page-hit@1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350008" y="36118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0.682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511296" y="361188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22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84048" y="3886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RAG refusal accuracy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350008" y="388620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100%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511296" y="3886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2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84048" y="41605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0F172A"/>
                </a:solidFill>
                <a:latin typeface="Google Sans Flex"/>
              </a:rPr>
              <a:t>Backend test suite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350008" y="41605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Google Sans Flex"/>
              </a:rPr>
              <a:t>219 tests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511296" y="4160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Google Sans Flex"/>
              </a:rPr>
              <a:t>11 files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4892040" y="1691640"/>
            <a:ext cx="3794760" cy="178308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093208" y="1792224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92400E"/>
                </a:solidFill>
                <a:latin typeface="Google Sans Flex"/>
              </a:rPr>
              <a:t>Read this before quoting the numbers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093208" y="2066543"/>
            <a:ext cx="3429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80" b="0">
                <a:solidFill>
                  <a:srgbClr val="334155"/>
                </a:solidFill>
                <a:latin typeface="Google Sans Flex"/>
              </a:rPr>
              <a:t>The harness also measures how often the </a:t>
            </a:r>
            <a:r>
              <a:rPr sz="780" b="1">
                <a:solidFill>
                  <a:srgbClr val="334155"/>
                </a:solidFill>
                <a:latin typeface="Google Sans Flex"/>
              </a:rPr>
              <a:t>raw model</a:t>
            </a:r>
            <a:r>
              <a:rPr sz="780" b="0">
                <a:solidFill>
                  <a:srgbClr val="334155"/>
                </a:solidFill>
                <a:latin typeface="Google Sans Flex"/>
              </a:rPr>
              <a:t> hallucinates on fictional terms: </a:t>
            </a:r>
            <a:r>
              <a:rPr sz="780" b="1">
                <a:solidFill>
                  <a:srgbClr val="92400E"/>
                </a:solidFill>
                <a:latin typeface="Google Sans Flex"/>
              </a:rPr>
              <a:t>87.5%</a:t>
            </a:r>
            <a:r>
              <a:rPr sz="780" b="0">
                <a:solidFill>
                  <a:srgbClr val="334155"/>
                </a:solidFill>
                <a:latin typeface="Google Sans Flex"/>
              </a:rPr>
              <a:t> (n=8, product run) against a 54% research baseline (n=80). That is the </a:t>
            </a:r>
            <a:r>
              <a:rPr sz="780" b="1">
                <a:solidFill>
                  <a:srgbClr val="334155"/>
                </a:solidFill>
                <a:latin typeface="Google Sans Flex"/>
              </a:rPr>
              <a:t>problem</a:t>
            </a:r>
            <a:r>
              <a:rPr sz="780" b="0">
                <a:solidFill>
                  <a:srgbClr val="334155"/>
                </a:solidFill>
                <a:latin typeface="Google Sans Flex"/>
              </a:rPr>
              <a:t> we measure, not our accuracy. Assay's own score is the verifier catch rate above.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4892040" y="3611880"/>
            <a:ext cx="3794760" cy="12344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093208" y="3712463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"/>
              </a:rPr>
              <a:t>Sample sizes are small and stated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093208" y="3986784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80" b="0">
                <a:solidFill>
                  <a:srgbClr val="334155"/>
                </a:solidFill>
                <a:latin typeface="Google Sans Flex"/>
              </a:rPr>
              <a:t>n=2 for most trap categories. The 100% figures are directionally strong but not statistically tight, and we say so rather than hiding the n. The RAG metrics (n=22) and the verifier (n=6) carry the most weight.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8404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38404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321868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321868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605332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605332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A5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38404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38404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321868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321868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605332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605332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A5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38404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38404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6928" y="1499616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Google Sans Flex Medium"/>
              </a:rPr>
              <a:t>Now — shipped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6928" y="1847088"/>
            <a:ext cx="2377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Intake, gated syllabus, deep reader, oral defense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Anti-hallucination verifier + honeypot catalog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Verified dossier with Bloom profiling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219 backend tests, deterministic eval harness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321868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321868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01568" y="1499616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Google Sans Flex Medium"/>
              </a:rPr>
              <a:t>Next — 90 days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401568" y="1847088"/>
            <a:ext cx="2377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Firestore port for multi-tenant sessions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Voice-first defense (live speech, not typed)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Instructor dashboard with cohort analytics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Institutional SSO and roster import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053328" y="1298448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053328" y="1298448"/>
            <a:ext cx="2697480" cy="54864"/>
          </a:xfrm>
          <a:prstGeom prst="roundRect">
            <a:avLst>
              <a:gd name="adj" fmla="val 30000"/>
            </a:avLst>
          </a:prstGeom>
          <a:solidFill>
            <a:srgbClr val="A5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236208" y="1499616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Google Sans Flex Medium"/>
              </a:rPr>
              <a:t>Later — 12 months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236208" y="1847088"/>
            <a:ext cx="2377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Adaptive honeypot generation per domain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Cross-session knowledge decay modelling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LMS integrations (Canvas, Moodle)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334155"/>
                </a:solidFill>
                <a:latin typeface="Google Sans Flex"/>
              </a:rPr>
              <a:t>·  Public competency credential with verifiable link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84048" y="4251960"/>
            <a:ext cx="8375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"/>
              </a:rPr>
              <a:t>Known limits we are not hiding: </a:t>
            </a:r>
            <a:r>
              <a:rPr sz="900" b="0">
                <a:solidFill>
                  <a:srgbClr val="334155"/>
                </a:solidFill>
                <a:latin typeface="Google Sans Flex"/>
              </a:rPr>
              <a:t>trap categories still have n=2, the Firestore layer is a stub, and the oral defense is typed rather than spoken. Each of these is scheduled above, not glossed 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160520" y="1212465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Google Sans Flex"/>
              </a:rPr>
              <a:t>https://github.com/rafidaaziz23/assay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60520" y="1486785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Google Sans Flex"/>
              </a:rPr>
              <a:t>[ISI: URL video demo 3 menit]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60520" y="1761105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Google Sans Flex"/>
              </a:rPr>
              <a:t>https://assay-web-icejnb6gya-as.a.run.app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84048" y="4206240"/>
            <a:ext cx="8375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Google Sans Flex"/>
              </a:rPr>
              <a:t>Team: </a:t>
            </a:r>
            <a:r>
              <a:rPr sz="900" b="0">
                <a:solidFill>
                  <a:srgbClr val="64748B"/>
                </a:solidFill>
                <a:latin typeface="Google Sans Flex"/>
              </a:rPr>
              <a:t>Assay — Rafida Aziz (lead), M. Zulfi Fahreza, Wildan Fajar Maulana.  </a:t>
            </a:r>
            <a:r>
              <a:rPr sz="900" b="1">
                <a:solidFill>
                  <a:srgbClr val="0F172A"/>
                </a:solidFill>
                <a:latin typeface="Google Sans Flex"/>
              </a:rPr>
              <a:t>Stack: </a:t>
            </a:r>
            <a:r>
              <a:rPr sz="900" b="0">
                <a:solidFill>
                  <a:srgbClr val="64748B"/>
                </a:solidFill>
                <a:latin typeface="Google Sans Flex"/>
              </a:rPr>
              <a:t>React 18 + Vite, FastAPI, Gemini 3 via the google-genai SDK, deployed on Google Cloud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1780</Words>
  <Application>Microsoft Office PowerPoint</Application>
  <PresentationFormat>On-screen Show (16:9)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Google Sans Flex</vt:lpstr>
      <vt:lpstr>Google Sans Flex SemiBold</vt:lpstr>
      <vt:lpstr>Arial</vt:lpstr>
      <vt:lpstr>Google Sans Flex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Zulfi Fahreza</cp:lastModifiedBy>
  <cp:revision>2</cp:revision>
  <dcterms:modified xsi:type="dcterms:W3CDTF">2026-10-17T12:10:46Z</dcterms:modified>
</cp:coreProperties>
</file>